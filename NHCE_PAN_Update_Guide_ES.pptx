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ESTINO Geisiane (CNH)" userId="70432d61-9e3a-4d45-818a-2d81a8c650f8" providerId="ADAL" clId="{671AAFBF-834B-4732-A02C-A5B1AEE0BEF2}"/>
    <pc:docChg chg="modSld">
      <pc:chgData name="CELESTINO Geisiane (CNH)" userId="70432d61-9e3a-4d45-818a-2d81a8c650f8" providerId="ADAL" clId="{671AAFBF-834B-4732-A02C-A5B1AEE0BEF2}" dt="2026-07-29T14:17:55.797" v="23" actId="1076"/>
      <pc:docMkLst>
        <pc:docMk/>
      </pc:docMkLst>
      <pc:sldChg chg="modSp mod">
        <pc:chgData name="CELESTINO Geisiane (CNH)" userId="70432d61-9e3a-4d45-818a-2d81a8c650f8" providerId="ADAL" clId="{671AAFBF-834B-4732-A02C-A5B1AEE0BEF2}" dt="2026-07-29T14:17:55.797" v="23" actId="1076"/>
        <pc:sldMkLst>
          <pc:docMk/>
          <pc:sldMk cId="0" sldId="264"/>
        </pc:sldMkLst>
        <pc:spChg chg="mod">
          <ac:chgData name="CELESTINO Geisiane (CNH)" userId="70432d61-9e3a-4d45-818a-2d81a8c650f8" providerId="ADAL" clId="{671AAFBF-834B-4732-A02C-A5B1AEE0BEF2}" dt="2026-07-29T14:17:53.006" v="22" actId="1036"/>
          <ac:spMkLst>
            <pc:docMk/>
            <pc:sldMk cId="0" sldId="264"/>
            <ac:spMk id="8" creationId="{00000000-0000-0000-0000-000000000000}"/>
          </ac:spMkLst>
        </pc:spChg>
        <pc:spChg chg="mod">
          <ac:chgData name="CELESTINO Geisiane (CNH)" userId="70432d61-9e3a-4d45-818a-2d81a8c650f8" providerId="ADAL" clId="{671AAFBF-834B-4732-A02C-A5B1AEE0BEF2}" dt="2026-07-29T14:17:53.006" v="22" actId="10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CELESTINO Geisiane (CNH)" userId="70432d61-9e3a-4d45-818a-2d81a8c650f8" providerId="ADAL" clId="{671AAFBF-834B-4732-A02C-A5B1AEE0BEF2}" dt="2026-07-29T14:17:53.006" v="22" actId="1036"/>
          <ac:spMkLst>
            <pc:docMk/>
            <pc:sldMk cId="0" sldId="264"/>
            <ac:spMk id="10" creationId="{00000000-0000-0000-0000-000000000000}"/>
          </ac:spMkLst>
        </pc:spChg>
        <pc:picChg chg="mod">
          <ac:chgData name="CELESTINO Geisiane (CNH)" userId="70432d61-9e3a-4d45-818a-2d81a8c650f8" providerId="ADAL" clId="{671AAFBF-834B-4732-A02C-A5B1AEE0BEF2}" dt="2026-07-29T14:17:55.797" v="23" actId="1076"/>
          <ac:picMkLst>
            <pc:docMk/>
            <pc:sldMk cId="0" sldId="264"/>
            <ac:picMk id="14" creationId="{4319BAB4-60F3-A917-8F29-0E61E38EF9C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9443FC-BFED-C7C6-CA39-D40252794EC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9826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Business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DC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680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NEW HOLLAND CONSTRUCTION</a:t>
            </a:r>
          </a:p>
          <a:p>
            <a:pPr>
              <a:spcAft>
                <a:spcPts val="1600"/>
              </a:spcAft>
              <a:defRPr sz="3800" b="1">
                <a:solidFill>
                  <a:srgbClr val="FDC82F"/>
                </a:solidFill>
                <a:latin typeface="Arial"/>
              </a:defRPr>
            </a:pPr>
            <a:r>
              <a:t>GUÍA DE ACTUALIZACIÓN DEL PAN</a:t>
            </a:r>
          </a:p>
          <a:p>
            <a:pPr>
              <a:defRPr sz="1600">
                <a:solidFill>
                  <a:srgbClr val="C8C8C8"/>
                </a:solidFill>
                <a:latin typeface="Arial"/>
              </a:defRPr>
            </a:pPr>
            <a:r>
              <a:t>Paso a paso detallado para el llenado y sincronización del Plan Anual de Negocios a través del Portal CNH 360.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5"/>
                </a:solidFill>
                <a:latin typeface="Arial"/>
              </a:defRPr>
            </a:pPr>
            <a:r>
              <a:t>Desarrollo de Red NHCE</a:t>
            </a:r>
          </a:p>
        </p:txBody>
      </p:sp>
      <p:pic>
        <p:nvPicPr>
          <p:cNvPr id="6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B128C373-BEBD-7488-3DAF-A89BEC14D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t>01. ACCESO AL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1B"/>
                </a:solidFill>
                <a:latin typeface="Arial"/>
              </a:defRPr>
            </a:pPr>
            <a:r>
              <a:t>PANEL 360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8175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  <a:latin typeface="Arial"/>
              </a:defRPr>
            </a:pPr>
            <a:r>
              <a:t>#BUILDING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>
                <a:solidFill>
                  <a:srgbClr val="555555"/>
                </a:solidFill>
                <a:latin typeface="Arial"/>
              </a:defRPr>
            </a:pPr>
            <a:r>
              <a:t>El primer paso es realizar la autenticación en el panel oficial de CNH Industrial: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Ingrese su Usuario: </a:t>
            </a:r>
            <a:r>
              <a:rPr sz="1400">
                <a:solidFill>
                  <a:srgbClr val="555555"/>
                </a:solidFill>
                <a:latin typeface="Arial"/>
              </a:rPr>
              <a:t>Utilice sus credenciales oficiales registradas.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Digite su Contraseña: </a:t>
            </a:r>
            <a:r>
              <a:rPr sz="1400">
                <a:solidFill>
                  <a:srgbClr val="555555"/>
                </a:solidFill>
                <a:latin typeface="Arial"/>
              </a:rPr>
              <a:t>Ingrese su contraseña de acceso personal.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Iniciar Sesión: </a:t>
            </a:r>
            <a:r>
              <a:rPr sz="1400">
                <a:solidFill>
                  <a:srgbClr val="555555"/>
                </a:solidFill>
                <a:latin typeface="Arial"/>
              </a:rPr>
              <a:t>Haga clic en el botón 'Entrar' para acceder al Panel 360.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rPr sz="1200" dirty="0"/>
              <a:t>URL </a:t>
            </a:r>
            <a:r>
              <a:rPr sz="1200" dirty="0" err="1"/>
              <a:t>Oficial</a:t>
            </a:r>
            <a:r>
              <a:rPr sz="1200" dirty="0"/>
              <a:t>:</a:t>
            </a:r>
            <a:br>
              <a:rPr sz="1200" dirty="0"/>
            </a:br>
            <a:r>
              <a:rPr sz="1200" dirty="0"/>
              <a:t>https://painel360.cnhindustrial.com/pages/login</a:t>
            </a:r>
          </a:p>
        </p:txBody>
      </p:sp>
      <p:pic>
        <p:nvPicPr>
          <p:cNvPr id="16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C2D0452C-D6DF-5C2A-02C1-867386A50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AAD26E3-CE6C-A7C6-B6CC-B829BD80C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730" y="1324125"/>
            <a:ext cx="3924485" cy="48169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D6507B02-C29B-1280-E285-E01066F7DE22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6217920" y="4129167"/>
            <a:ext cx="1879746" cy="4907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340E93B7-55D1-6AC5-215B-B1E4D8C242C7}"/>
              </a:ext>
            </a:extLst>
          </p:cNvPr>
          <p:cNvSpPr/>
          <p:nvPr/>
        </p:nvSpPr>
        <p:spPr>
          <a:xfrm>
            <a:off x="10575690" y="4827981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t>02. LOCALIZACIÓN DEL 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1B"/>
                </a:solidFill>
                <a:latin typeface="Arial"/>
              </a:defRPr>
            </a:pPr>
            <a:r>
              <a:t>NAVEGACIÓN LATERAL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8175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  <a:latin typeface="Arial"/>
              </a:defRPr>
            </a:pPr>
            <a:r>
              <a:t>#BUILDING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>
                <a:solidFill>
                  <a:srgbClr val="555555"/>
                </a:solidFill>
                <a:latin typeface="Arial"/>
              </a:defRPr>
            </a:pPr>
            <a:r>
              <a:t>Una vez dentro del portal, localice el menú de herramientas a la izquierda de la pantalla: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1º Pestaña PAN: </a:t>
            </a:r>
            <a:r>
              <a:rPr sz="1400">
                <a:solidFill>
                  <a:srgbClr val="555555"/>
                </a:solidFill>
                <a:latin typeface="Arial"/>
              </a:rPr>
              <a:t>Haga clic sobre la pestaña principal 'PAN' en la barra lateral de navegación.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2º Selección de PAN: </a:t>
            </a:r>
            <a:r>
              <a:rPr sz="1400">
                <a:solidFill>
                  <a:srgbClr val="555555"/>
                </a:solidFill>
                <a:latin typeface="Arial"/>
              </a:rPr>
              <a:t>Vuelva a hacer clic en la subopción 'PAN' para desplegar los registros correspondientes.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Carga del Sistema: </a:t>
            </a:r>
            <a:r>
              <a:rPr sz="1400">
                <a:solidFill>
                  <a:srgbClr val="555555"/>
                </a:solidFill>
                <a:latin typeface="Arial"/>
              </a:rPr>
              <a:t>El sistema cargará automáticamente el estado actualizado de las ediciones.</a:t>
            </a:r>
          </a:p>
        </p:txBody>
      </p:sp>
      <p:pic>
        <p:nvPicPr>
          <p:cNvPr id="12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CE1FE592-348E-3801-BEEB-2D1BBCAEA5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750806F-6707-1CBC-A265-09B417241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78"/>
          <a:stretch>
            <a:fillRect/>
          </a:stretch>
        </p:blipFill>
        <p:spPr>
          <a:xfrm>
            <a:off x="8062233" y="1379980"/>
            <a:ext cx="2742057" cy="44791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147719F7-2523-EF24-68C7-F2B2BF092B72}"/>
              </a:ext>
            </a:extLst>
          </p:cNvPr>
          <p:cNvSpPr/>
          <p:nvPr/>
        </p:nvSpPr>
        <p:spPr>
          <a:xfrm>
            <a:off x="8664594" y="3483389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A9F5643-8D99-3B61-92BA-B65614347A1B}"/>
              </a:ext>
            </a:extLst>
          </p:cNvPr>
          <p:cNvSpPr/>
          <p:nvPr/>
        </p:nvSpPr>
        <p:spPr>
          <a:xfrm>
            <a:off x="10016667" y="3232618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t>03. SELECCIÓN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1B"/>
                </a:solidFill>
                <a:latin typeface="Arial"/>
              </a:defRPr>
            </a:pPr>
            <a:r>
              <a:rPr lang="pt-BR" dirty="0"/>
              <a:t>S</a:t>
            </a:r>
            <a:r>
              <a:rPr dirty="0"/>
              <a:t>ELECCIÓN DEL CONCESIONARIO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8175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  <a:latin typeface="Arial"/>
              </a:defRPr>
            </a:pPr>
            <a:r>
              <a:t>#BUILDING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2705"/>
            <a:ext cx="4247329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>
                <a:solidFill>
                  <a:srgbClr val="555555"/>
                </a:solidFill>
                <a:latin typeface="Arial"/>
              </a:defRPr>
            </a:pPr>
            <a:r>
              <a:rPr dirty="0"/>
              <a:t>Busque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lista</a:t>
            </a:r>
            <a:r>
              <a:rPr dirty="0"/>
              <a:t> la </a:t>
            </a:r>
            <a:r>
              <a:rPr dirty="0" err="1"/>
              <a:t>unidad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desea</a:t>
            </a:r>
            <a:r>
              <a:rPr dirty="0"/>
              <a:t> </a:t>
            </a:r>
            <a:r>
              <a:rPr dirty="0" err="1"/>
              <a:t>actualizar</a:t>
            </a:r>
            <a:r>
              <a:rPr dirty="0"/>
              <a:t> para acceder a las </a:t>
            </a:r>
            <a:r>
              <a:rPr dirty="0" err="1"/>
              <a:t>plantillas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: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 dirty="0">
                <a:solidFill>
                  <a:srgbClr val="1B1B1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Ubicar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Concesionario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Utilice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los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filtros</a:t>
            </a:r>
            <a:r>
              <a:rPr sz="1400" dirty="0">
                <a:solidFill>
                  <a:srgbClr val="555555"/>
                </a:solidFill>
                <a:latin typeface="Arial"/>
              </a:rPr>
              <a:t> para encontrar el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nombre</a:t>
            </a:r>
            <a:r>
              <a:rPr sz="1400" dirty="0">
                <a:solidFill>
                  <a:srgbClr val="555555"/>
                </a:solidFill>
                <a:latin typeface="Arial"/>
              </a:rPr>
              <a:t> de la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concesionaria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deseada</a:t>
            </a:r>
            <a:r>
              <a:rPr sz="1400" dirty="0">
                <a:solidFill>
                  <a:srgbClr val="555555"/>
                </a:solidFill>
                <a:latin typeface="Arial"/>
              </a:rPr>
              <a:t>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 dirty="0">
                <a:solidFill>
                  <a:srgbClr val="1B1B1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Selección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 Directa: </a:t>
            </a:r>
            <a:r>
              <a:rPr sz="1400" dirty="0">
                <a:solidFill>
                  <a:srgbClr val="555555"/>
                </a:solidFill>
                <a:latin typeface="Arial"/>
              </a:rPr>
              <a:t>Haga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clic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en</a:t>
            </a:r>
            <a:r>
              <a:rPr sz="1400" dirty="0">
                <a:solidFill>
                  <a:srgbClr val="555555"/>
                </a:solidFill>
                <a:latin typeface="Arial"/>
              </a:rPr>
              <a:t> el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nombre</a:t>
            </a:r>
            <a:r>
              <a:rPr sz="1400" dirty="0">
                <a:solidFill>
                  <a:srgbClr val="555555"/>
                </a:solidFill>
                <a:latin typeface="Arial"/>
              </a:rPr>
              <a:t> de la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concesionaria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cargada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en</a:t>
            </a:r>
            <a:r>
              <a:rPr sz="1400" dirty="0">
                <a:solidFill>
                  <a:srgbClr val="555555"/>
                </a:solidFill>
                <a:latin typeface="Arial"/>
              </a:rPr>
              <a:t> la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lista</a:t>
            </a:r>
            <a:r>
              <a:rPr sz="1400" dirty="0">
                <a:solidFill>
                  <a:srgbClr val="555555"/>
                </a:solidFill>
                <a:latin typeface="Arial"/>
              </a:rPr>
              <a:t>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 dirty="0">
                <a:solidFill>
                  <a:srgbClr val="1B1B1B"/>
                </a:solidFill>
                <a:latin typeface="Arial"/>
              </a:rPr>
              <a:t>• Carga del Plan: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Aguarde</a:t>
            </a:r>
            <a:r>
              <a:rPr sz="1400" dirty="0">
                <a:solidFill>
                  <a:srgbClr val="555555"/>
                </a:solidFill>
                <a:latin typeface="Arial"/>
              </a:rPr>
              <a:t> la carga completa de las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pestañas</a:t>
            </a:r>
            <a:r>
              <a:rPr sz="1400" dirty="0">
                <a:solidFill>
                  <a:srgbClr val="555555"/>
                </a:solidFill>
                <a:latin typeface="Arial"/>
              </a:rPr>
              <a:t> del Plan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Anual</a:t>
            </a:r>
            <a:r>
              <a:rPr sz="1400" dirty="0">
                <a:solidFill>
                  <a:srgbClr val="555555"/>
                </a:solidFill>
                <a:latin typeface="Arial"/>
              </a:rPr>
              <a:t> de Negocios.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 dirty="0">
                <a:solidFill>
                  <a:srgbClr val="1B1B1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Verificar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 Estado: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Confirme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visualmente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que</a:t>
            </a:r>
            <a:r>
              <a:rPr sz="1400" dirty="0">
                <a:solidFill>
                  <a:srgbClr val="555555"/>
                </a:solidFill>
                <a:latin typeface="Arial"/>
              </a:rPr>
              <a:t> el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estado</a:t>
            </a:r>
            <a:r>
              <a:rPr sz="1400" dirty="0">
                <a:solidFill>
                  <a:srgbClr val="555555"/>
                </a:solidFill>
                <a:latin typeface="Arial"/>
              </a:rPr>
              <a:t> actual figure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como</a:t>
            </a:r>
            <a:r>
              <a:rPr sz="1400" dirty="0">
                <a:solidFill>
                  <a:srgbClr val="555555"/>
                </a:solidFill>
                <a:latin typeface="Arial"/>
              </a:rPr>
              <a:t> 'En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Edición</a:t>
            </a:r>
            <a:r>
              <a:rPr sz="1400" dirty="0">
                <a:solidFill>
                  <a:srgbClr val="555555"/>
                </a:solidFill>
                <a:latin typeface="Arial"/>
              </a:rPr>
              <a:t>'.</a:t>
            </a:r>
          </a:p>
        </p:txBody>
      </p:sp>
      <p:pic>
        <p:nvPicPr>
          <p:cNvPr id="11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BF939F1F-B6A8-B26E-5E50-B050EA3DCF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BFB0A09-16FB-B96F-0C54-FE46FC7B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725"/>
          <a:stretch>
            <a:fillRect/>
          </a:stretch>
        </p:blipFill>
        <p:spPr>
          <a:xfrm>
            <a:off x="6128281" y="1372705"/>
            <a:ext cx="5995512" cy="23089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Elipse 14">
            <a:extLst>
              <a:ext uri="{FF2B5EF4-FFF2-40B4-BE49-F238E27FC236}">
                <a16:creationId xmlns:a16="http://schemas.microsoft.com/office/drawing/2014/main" id="{B5E88FDC-8012-9EED-0272-FEFFD0EEC34C}"/>
              </a:ext>
            </a:extLst>
          </p:cNvPr>
          <p:cNvSpPr/>
          <p:nvPr/>
        </p:nvSpPr>
        <p:spPr>
          <a:xfrm>
            <a:off x="8294076" y="2508660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F6FFA337-CBCF-182B-4E5F-4E9275789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849" y="4035056"/>
            <a:ext cx="6266094" cy="21371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Seta: para a Esquerda e para Cima 18">
            <a:extLst>
              <a:ext uri="{FF2B5EF4-FFF2-40B4-BE49-F238E27FC236}">
                <a16:creationId xmlns:a16="http://schemas.microsoft.com/office/drawing/2014/main" id="{5101AB02-A619-BA7A-06C1-CDC0C5C3CDD6}"/>
              </a:ext>
            </a:extLst>
          </p:cNvPr>
          <p:cNvSpPr/>
          <p:nvPr/>
        </p:nvSpPr>
        <p:spPr>
          <a:xfrm>
            <a:off x="11244943" y="3681645"/>
            <a:ext cx="810985" cy="1734271"/>
          </a:xfrm>
          <a:prstGeom prst="leftUpArrow">
            <a:avLst>
              <a:gd name="adj1" fmla="val 25000"/>
              <a:gd name="adj2" fmla="val 25345"/>
              <a:gd name="adj3" fmla="val 25000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41EA5A1E-9682-64B6-2F30-F0523BE09B6F}"/>
              </a:ext>
            </a:extLst>
          </p:cNvPr>
          <p:cNvSpPr/>
          <p:nvPr/>
        </p:nvSpPr>
        <p:spPr>
          <a:xfrm>
            <a:off x="6888175" y="4898497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t>REGLA FUNDAMENTAL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1B"/>
                </a:solidFill>
                <a:latin typeface="Arial"/>
              </a:defRPr>
            </a:pPr>
            <a:r>
              <a:t>PREVENCIÓN DE PÉRDIDA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8175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  <a:latin typeface="Arial"/>
              </a:defRPr>
            </a:pPr>
            <a:r>
              <a:t>#BUILDING TOMORROW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011680"/>
            <a:ext cx="9997135" cy="3291840"/>
          </a:xfrm>
          <a:prstGeom prst="roundRect">
            <a:avLst/>
          </a:prstGeom>
          <a:solidFill>
            <a:srgbClr val="FFFBE6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400"/>
              </a:spcAft>
              <a:defRPr sz="1800" b="1">
                <a:solidFill>
                  <a:srgbClr val="A06E00"/>
                </a:solidFill>
                <a:latin typeface="Arial"/>
              </a:defRPr>
            </a:pPr>
            <a:r>
              <a:t>⚠️ ATENCIÓN: PROCEDIMIENTO OBLIGATORIO</a:t>
            </a:r>
          </a:p>
          <a:p>
            <a:pPr algn="ctr">
              <a:spcAft>
                <a:spcPts val="1600"/>
              </a:spcAft>
              <a:defRPr sz="1600">
                <a:solidFill>
                  <a:srgbClr val="1B1B1B"/>
                </a:solidFill>
                <a:latin typeface="Arial"/>
              </a:defRPr>
            </a:pPr>
            <a:r>
              <a:t>El sistema no guarda de forma automática las ediciones ingresadas directamente en la cuadrícula.</a:t>
            </a:r>
          </a:p>
          <a:p>
            <a:pPr algn="ctr">
              <a:defRPr sz="1500" b="1">
                <a:solidFill>
                  <a:srgbClr val="1B1B1B"/>
                </a:solidFill>
                <a:latin typeface="Arial"/>
              </a:defRPr>
            </a:pPr>
            <a:r>
              <a:t>SI EDITA O COMPLETA LOS DATOS DIRECTAMENTE EN EL SISTEMA, ES ESTRÍCTAMENTE OBLIGATORIO HACER CLIC EN EL BOTÓN "GUARDAR" PARA REGISTRAR LOS CAMBIOS EN LA BASE DEL PORTAL.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4617720"/>
            <a:ext cx="1828800" cy="4572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💾 GUARDAR</a:t>
            </a:r>
          </a:p>
        </p:txBody>
      </p:sp>
      <p:pic>
        <p:nvPicPr>
          <p:cNvPr id="11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4A73B7B1-C000-C792-39C3-8F1B79254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t>04. CUADRÍCULA DE LLENADO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1B"/>
                </a:solidFill>
                <a:latin typeface="Arial"/>
              </a:defRPr>
            </a:pPr>
            <a:r>
              <a:t>CAMPOS EDITABLES EN MAQUINARIA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8175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  <a:latin typeface="Arial"/>
              </a:defRPr>
            </a:pPr>
            <a:r>
              <a:t>#BUILDING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1" y="1515499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>
                <a:solidFill>
                  <a:srgbClr val="555555"/>
                </a:solidFill>
                <a:latin typeface="Arial"/>
              </a:defRPr>
            </a:pPr>
            <a:r>
              <a:t>En la pestaña de Maquinaria/Equipamiento, observe detalladamente la codificación de colores para evitar errores: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Campos en Amarillo: </a:t>
            </a:r>
            <a:r>
              <a:rPr sz="1400">
                <a:solidFill>
                  <a:srgbClr val="555555"/>
                </a:solidFill>
                <a:latin typeface="Arial"/>
              </a:rPr>
              <a:t>Son celdas abiertas y habilitadas para la entrada manual de sus datos.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Campos en Blanco: </a:t>
            </a:r>
            <a:r>
              <a:rPr sz="1400">
                <a:solidFill>
                  <a:srgbClr val="555555"/>
                </a:solidFill>
                <a:latin typeface="Arial"/>
              </a:rPr>
              <a:t>Son celdas protegidas, calculadas de forma automática por fórmulas del sistema.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Formato Numérico: </a:t>
            </a:r>
            <a:r>
              <a:rPr sz="1400">
                <a:solidFill>
                  <a:srgbClr val="555555"/>
                </a:solidFill>
                <a:latin typeface="Arial"/>
              </a:rPr>
              <a:t>Certifíquese de ingresar únicamente valores numéricos enteros válidos sin decimales.</a:t>
            </a:r>
          </a:p>
        </p:txBody>
      </p:sp>
      <p:pic>
        <p:nvPicPr>
          <p:cNvPr id="13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478FE22C-1DD8-88EB-B614-EA9BA00ED7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F87124A-88AF-3747-5409-A49D349D59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760"/>
          <a:stretch>
            <a:fillRect/>
          </a:stretch>
        </p:blipFill>
        <p:spPr>
          <a:xfrm>
            <a:off x="6083828" y="1515499"/>
            <a:ext cx="5988393" cy="39146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DC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DC82F"/>
                </a:solidFill>
                <a:latin typeface="Arial"/>
              </a:defRPr>
            </a:pPr>
            <a:r>
              <a:t>PROCESAMIENTO EN LOTE</a:t>
            </a:r>
          </a:p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SINCRONIZACIÓN VÍA EXCEL</a:t>
            </a:r>
          </a:p>
          <a:p>
            <a:pPr>
              <a:defRPr sz="1600">
                <a:solidFill>
                  <a:srgbClr val="C8C8C8"/>
                </a:solidFill>
                <a:latin typeface="Arial"/>
              </a:defRPr>
            </a:pPr>
            <a:r>
              <a:t>Cómo descargar la base de datos e importar registros en masa de forma offline.</a:t>
            </a:r>
          </a:p>
        </p:txBody>
      </p:sp>
      <p:pic>
        <p:nvPicPr>
          <p:cNvPr id="5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683936FD-63DF-FDBB-5B6C-7A94C0113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t>05. EXPORTACIÓN DE LA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1B"/>
                </a:solidFill>
                <a:latin typeface="Arial"/>
              </a:defRPr>
            </a:pPr>
            <a:r>
              <a:t>SINCRONIZACIÓN EN LOTE (BATCH)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NHCE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8175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  <a:latin typeface="Arial"/>
              </a:defRPr>
            </a:pPr>
            <a:r>
              <a:t>#BUILDING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>
                <a:solidFill>
                  <a:srgbClr val="555555"/>
                </a:solidFill>
                <a:latin typeface="Arial"/>
              </a:defRPr>
            </a:pPr>
            <a:r>
              <a:t>Para realizar el llenado offline, descarga el archivo base del sistema: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Acceso de Importación: </a:t>
            </a:r>
            <a:r>
              <a:rPr sz="1400">
                <a:solidFill>
                  <a:srgbClr val="555555"/>
                </a:solidFill>
                <a:latin typeface="Arial"/>
              </a:rPr>
              <a:t>1º Haga clic en el menú 'Exportar/Importar' ubicado en el pie de página de la cuadrícula.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Descargar Base: </a:t>
            </a:r>
            <a:r>
              <a:rPr sz="1400">
                <a:solidFill>
                  <a:srgbClr val="555555"/>
                </a:solidFill>
                <a:latin typeface="Arial"/>
              </a:rPr>
              <a:t>Seleccione la opción 'Descargar Base' (Baixar Base) de las alternativas disponibles.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Archivo Excel: </a:t>
            </a:r>
            <a:r>
              <a:rPr sz="1400">
                <a:solidFill>
                  <a:srgbClr val="555555"/>
                </a:solidFill>
                <a:latin typeface="Arial"/>
              </a:rPr>
              <a:t>El sistema generará un archivo formateado .xlsx con la estructura oficial de su PAN actual.</a:t>
            </a:r>
          </a:p>
        </p:txBody>
      </p:sp>
      <p:pic>
        <p:nvPicPr>
          <p:cNvPr id="16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9773D22F-E932-303D-85BA-363FE716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9F2FC72-A0B6-77B7-999C-74149ED401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413"/>
          <a:stretch>
            <a:fillRect/>
          </a:stretch>
        </p:blipFill>
        <p:spPr>
          <a:xfrm>
            <a:off x="7187184" y="1352551"/>
            <a:ext cx="4491523" cy="2657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Elipse 19">
            <a:extLst>
              <a:ext uri="{FF2B5EF4-FFF2-40B4-BE49-F238E27FC236}">
                <a16:creationId xmlns:a16="http://schemas.microsoft.com/office/drawing/2014/main" id="{6A9F1958-3788-2805-D910-4498BB6F9652}"/>
              </a:ext>
            </a:extLst>
          </p:cNvPr>
          <p:cNvSpPr/>
          <p:nvPr/>
        </p:nvSpPr>
        <p:spPr>
          <a:xfrm>
            <a:off x="10196464" y="3531780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F7A2EE82-D580-A45E-7625-635F2AF644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313"/>
          <a:stretch>
            <a:fillRect/>
          </a:stretch>
        </p:blipFill>
        <p:spPr>
          <a:xfrm>
            <a:off x="5881687" y="4081313"/>
            <a:ext cx="4112585" cy="18514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Elipse 23">
            <a:extLst>
              <a:ext uri="{FF2B5EF4-FFF2-40B4-BE49-F238E27FC236}">
                <a16:creationId xmlns:a16="http://schemas.microsoft.com/office/drawing/2014/main" id="{BC445121-8DE9-E4D6-8E2E-F52036EF4E4A}"/>
              </a:ext>
            </a:extLst>
          </p:cNvPr>
          <p:cNvSpPr/>
          <p:nvPr/>
        </p:nvSpPr>
        <p:spPr>
          <a:xfrm>
            <a:off x="7884019" y="5006409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6" name="Seta: para a Esquerda e para Cima 25">
            <a:extLst>
              <a:ext uri="{FF2B5EF4-FFF2-40B4-BE49-F238E27FC236}">
                <a16:creationId xmlns:a16="http://schemas.microsoft.com/office/drawing/2014/main" id="{A08DE17B-7393-EF24-73B8-FE70CE885F47}"/>
              </a:ext>
            </a:extLst>
          </p:cNvPr>
          <p:cNvSpPr/>
          <p:nvPr/>
        </p:nvSpPr>
        <p:spPr>
          <a:xfrm>
            <a:off x="10081795" y="4026449"/>
            <a:ext cx="1076062" cy="1734271"/>
          </a:xfrm>
          <a:prstGeom prst="leftUpArrow">
            <a:avLst>
              <a:gd name="adj1" fmla="val 25000"/>
              <a:gd name="adj2" fmla="val 25345"/>
              <a:gd name="adj3" fmla="val 25000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t>06. REGLAS DEL ARCHIVO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1B"/>
                </a:solidFill>
                <a:latin typeface="Arial"/>
              </a:defRPr>
            </a:pPr>
            <a:r>
              <a:t>DIRECTRICES PARA LA EDICIÓN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NHCE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8175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  <a:latin typeface="Arial"/>
              </a:defRPr>
            </a:pPr>
            <a:r>
              <a:t>#BUILDING TOMORROW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08176"/>
            <a:ext cx="3291840" cy="1792514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1500" b="1">
                <a:solidFill>
                  <a:srgbClr val="1B1B1B"/>
                </a:solidFill>
                <a:latin typeface="Arial"/>
              </a:defRPr>
            </a:pPr>
            <a:r>
              <a:rPr dirty="0"/>
              <a:t>📋 ESTRUCTURA FIJA</a:t>
            </a:r>
          </a:p>
          <a:p>
            <a:pPr algn="ctr">
              <a:defRPr sz="1300">
                <a:solidFill>
                  <a:srgbClr val="555555"/>
                </a:solidFill>
                <a:latin typeface="Arial"/>
              </a:defRPr>
            </a:pPr>
            <a:r>
              <a:rPr dirty="0"/>
              <a:t>Es </a:t>
            </a:r>
            <a:r>
              <a:rPr dirty="0" err="1"/>
              <a:t>absolutamente</a:t>
            </a:r>
            <a:r>
              <a:rPr dirty="0"/>
              <a:t> </a:t>
            </a:r>
            <a:r>
              <a:rPr dirty="0" err="1"/>
              <a:t>imprescindible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estructura</a:t>
            </a:r>
            <a:r>
              <a:rPr dirty="0"/>
              <a:t> de las </a:t>
            </a:r>
            <a:r>
              <a:rPr dirty="0" err="1"/>
              <a:t>tablas</a:t>
            </a:r>
            <a:r>
              <a:rPr dirty="0"/>
              <a:t> no sea </a:t>
            </a:r>
            <a:r>
              <a:rPr dirty="0" err="1"/>
              <a:t>alterada</a:t>
            </a:r>
            <a:r>
              <a:rPr dirty="0"/>
              <a:t> de </a:t>
            </a:r>
            <a:r>
              <a:rPr dirty="0" err="1"/>
              <a:t>ninguna</a:t>
            </a:r>
            <a:r>
              <a:rPr dirty="0"/>
              <a:t> </a:t>
            </a:r>
            <a:r>
              <a:rPr dirty="0" err="1"/>
              <a:t>manera</a:t>
            </a:r>
            <a:r>
              <a:rPr dirty="0"/>
              <a:t>. No </a:t>
            </a:r>
            <a:r>
              <a:rPr dirty="0" err="1"/>
              <a:t>agregue</a:t>
            </a:r>
            <a:r>
              <a:rPr dirty="0"/>
              <a:t>, </a:t>
            </a:r>
            <a:r>
              <a:rPr dirty="0" err="1"/>
              <a:t>mueva</a:t>
            </a:r>
            <a:r>
              <a:rPr dirty="0"/>
              <a:t> o </a:t>
            </a:r>
            <a:r>
              <a:rPr dirty="0" err="1"/>
              <a:t>elimine</a:t>
            </a:r>
            <a:r>
              <a:rPr dirty="0"/>
              <a:t> columnas, </a:t>
            </a:r>
            <a:r>
              <a:rPr dirty="0" err="1"/>
              <a:t>filas</a:t>
            </a:r>
            <a:r>
              <a:rPr dirty="0"/>
              <a:t>, </a:t>
            </a:r>
            <a:r>
              <a:rPr dirty="0" err="1"/>
              <a:t>celdas</a:t>
            </a:r>
            <a:r>
              <a:rPr dirty="0"/>
              <a:t> o </a:t>
            </a:r>
            <a:r>
              <a:rPr dirty="0" err="1"/>
              <a:t>pestañas</a:t>
            </a:r>
            <a:r>
              <a:rPr dirty="0"/>
              <a:t> del </a:t>
            </a:r>
            <a:r>
              <a:rPr dirty="0" err="1"/>
              <a:t>documento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08176"/>
            <a:ext cx="3291840" cy="1792514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1500" b="1">
                <a:solidFill>
                  <a:srgbClr val="1B1B1B"/>
                </a:solidFill>
                <a:latin typeface="Arial"/>
              </a:defRPr>
            </a:pPr>
            <a:r>
              <a:t>✏️ ENTRADAS AMARILLAS</a:t>
            </a:r>
          </a:p>
          <a:p>
            <a:pPr algn="ctr">
              <a:defRPr sz="1300">
                <a:solidFill>
                  <a:srgbClr val="555555"/>
                </a:solidFill>
                <a:latin typeface="Arial"/>
              </a:defRPr>
            </a:pPr>
            <a:r>
              <a:t>Solo las celdas destacadas en fondo de color amarillo están habilitadas para ser editadas dentro del archivo Excel. Cualquier modificación en celdas blancas invalidará la posterior importación de la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08176"/>
            <a:ext cx="3291840" cy="1792514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1500" b="1">
                <a:solidFill>
                  <a:srgbClr val="1B1B1B"/>
                </a:solidFill>
                <a:latin typeface="Arial"/>
              </a:defRPr>
            </a:pPr>
            <a:r>
              <a:t>🚫 SIN FÓRMULAS</a:t>
            </a:r>
          </a:p>
          <a:p>
            <a:pPr algn="ctr">
              <a:defRPr sz="1300">
                <a:solidFill>
                  <a:srgbClr val="555555"/>
                </a:solidFill>
                <a:latin typeface="Arial"/>
              </a:defRPr>
            </a:pPr>
            <a:r>
              <a:t>No utilice fórmulas matemáticas, lógicas o vínculos de celdas en el archivo. El motor del sistema acepta únicamente la inserción directa de valores numéricos absolutos.</a:t>
            </a:r>
          </a:p>
        </p:txBody>
      </p:sp>
      <p:pic>
        <p:nvPicPr>
          <p:cNvPr id="12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C7C453EC-6979-20C1-8B24-8CBAEBFD0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319BAB4-60F3-A917-8F29-0E61E38EF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438" b="17736"/>
          <a:stretch>
            <a:fillRect/>
          </a:stretch>
        </p:blipFill>
        <p:spPr>
          <a:xfrm>
            <a:off x="731520" y="3309656"/>
            <a:ext cx="6263640" cy="24860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t>07. IMPORTACIÓN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1B"/>
                </a:solidFill>
                <a:latin typeface="Arial"/>
              </a:defRPr>
            </a:pPr>
            <a:r>
              <a:t>CARGA DEL ARCHIVO EDITADO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NHCE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8175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  <a:latin typeface="Arial"/>
              </a:defRPr>
            </a:pPr>
            <a:r>
              <a:t>#BUILDING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8175" y="1385751"/>
            <a:ext cx="4955482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0"/>
              </a:spcAft>
              <a:defRPr sz="1400">
                <a:solidFill>
                  <a:srgbClr val="555555"/>
                </a:solidFill>
                <a:latin typeface="Arial"/>
              </a:defRPr>
            </a:pPr>
            <a:r>
              <a:rPr dirty="0"/>
              <a:t>Una </a:t>
            </a:r>
            <a:r>
              <a:rPr dirty="0" err="1"/>
              <a:t>vez</a:t>
            </a:r>
            <a:r>
              <a:rPr dirty="0"/>
              <a:t> </a:t>
            </a:r>
            <a:r>
              <a:rPr dirty="0" err="1"/>
              <a:t>completado</a:t>
            </a:r>
            <a:r>
              <a:rPr dirty="0"/>
              <a:t> y </a:t>
            </a:r>
            <a:r>
              <a:rPr dirty="0" err="1"/>
              <a:t>guardado</a:t>
            </a:r>
            <a:r>
              <a:rPr dirty="0"/>
              <a:t> el </a:t>
            </a:r>
            <a:r>
              <a:rPr dirty="0" err="1"/>
              <a:t>archivo</a:t>
            </a:r>
            <a:r>
              <a:rPr dirty="0"/>
              <a:t> Excel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computador</a:t>
            </a:r>
            <a:r>
              <a:rPr dirty="0"/>
              <a:t>, </a:t>
            </a:r>
            <a:r>
              <a:rPr dirty="0" err="1"/>
              <a:t>proceda</a:t>
            </a:r>
            <a:r>
              <a:rPr dirty="0"/>
              <a:t> a </a:t>
            </a:r>
            <a:r>
              <a:rPr dirty="0" err="1"/>
              <a:t>cargarlo</a:t>
            </a:r>
            <a:r>
              <a:rPr dirty="0"/>
              <a:t>:</a:t>
            </a:r>
          </a:p>
          <a:p>
            <a:pPr algn="just">
              <a:spcBef>
                <a:spcPts val="400"/>
              </a:spcBef>
              <a:spcAft>
                <a:spcPts val="800"/>
              </a:spcAft>
            </a:pPr>
            <a:r>
              <a:rPr sz="1400" b="1" dirty="0">
                <a:solidFill>
                  <a:srgbClr val="1B1B1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Regresar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 al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Menú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Vuelva</a:t>
            </a:r>
            <a:r>
              <a:rPr sz="1400" dirty="0">
                <a:solidFill>
                  <a:srgbClr val="555555"/>
                </a:solidFill>
                <a:latin typeface="Arial"/>
              </a:rPr>
              <a:t> al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menú</a:t>
            </a:r>
            <a:r>
              <a:rPr sz="1400" dirty="0">
                <a:solidFill>
                  <a:srgbClr val="555555"/>
                </a:solidFill>
                <a:latin typeface="Arial"/>
              </a:rPr>
              <a:t> inferior '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Exportar</a:t>
            </a:r>
            <a:r>
              <a:rPr sz="1400" dirty="0">
                <a:solidFill>
                  <a:srgbClr val="555555"/>
                </a:solidFill>
                <a:latin typeface="Arial"/>
              </a:rPr>
              <a:t>/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Importar</a:t>
            </a:r>
            <a:r>
              <a:rPr sz="1400" dirty="0">
                <a:solidFill>
                  <a:srgbClr val="555555"/>
                </a:solidFill>
                <a:latin typeface="Arial"/>
              </a:rPr>
              <a:t>'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dentro</a:t>
            </a:r>
            <a:r>
              <a:rPr sz="1400" dirty="0">
                <a:solidFill>
                  <a:srgbClr val="555555"/>
                </a:solidFill>
                <a:latin typeface="Arial"/>
              </a:rPr>
              <a:t> del portal del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concesionario</a:t>
            </a:r>
            <a:r>
              <a:rPr sz="1400" dirty="0">
                <a:solidFill>
                  <a:srgbClr val="555555"/>
                </a:solidFill>
                <a:latin typeface="Arial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800"/>
              </a:spcAft>
            </a:pPr>
            <a:r>
              <a:rPr sz="1400" b="1" dirty="0">
                <a:solidFill>
                  <a:srgbClr val="1B1B1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Seleccionar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Archivo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: </a:t>
            </a:r>
            <a:r>
              <a:rPr sz="1400" dirty="0">
                <a:solidFill>
                  <a:srgbClr val="555555"/>
                </a:solidFill>
                <a:latin typeface="Arial"/>
              </a:rPr>
              <a:t>Haga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clic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en</a:t>
            </a:r>
            <a:r>
              <a:rPr sz="1400" dirty="0">
                <a:solidFill>
                  <a:srgbClr val="555555"/>
                </a:solidFill>
                <a:latin typeface="Arial"/>
              </a:rPr>
              <a:t> '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Elegir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Archivo</a:t>
            </a:r>
            <a:r>
              <a:rPr sz="1400" dirty="0">
                <a:solidFill>
                  <a:srgbClr val="555555"/>
                </a:solidFill>
                <a:latin typeface="Arial"/>
              </a:rPr>
              <a:t>' y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seleccione</a:t>
            </a:r>
            <a:r>
              <a:rPr sz="1400" dirty="0">
                <a:solidFill>
                  <a:srgbClr val="555555"/>
                </a:solidFill>
                <a:latin typeface="Arial"/>
              </a:rPr>
              <a:t> el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documento</a:t>
            </a:r>
            <a:r>
              <a:rPr sz="1400" dirty="0">
                <a:solidFill>
                  <a:srgbClr val="555555"/>
                </a:solidFill>
                <a:latin typeface="Arial"/>
              </a:rPr>
              <a:t> .xlsx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editado</a:t>
            </a:r>
            <a:r>
              <a:rPr sz="1400" dirty="0">
                <a:solidFill>
                  <a:srgbClr val="555555"/>
                </a:solidFill>
                <a:latin typeface="Arial"/>
              </a:rPr>
              <a:t> de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su</a:t>
            </a:r>
            <a:r>
              <a:rPr sz="1400" dirty="0">
                <a:solidFill>
                  <a:srgbClr val="555555"/>
                </a:solidFill>
                <a:latin typeface="Arial"/>
              </a:rPr>
              <a:t> disco local.</a:t>
            </a:r>
          </a:p>
          <a:p>
            <a:pPr algn="just">
              <a:spcBef>
                <a:spcPts val="400"/>
              </a:spcBef>
              <a:spcAft>
                <a:spcPts val="800"/>
              </a:spcAft>
            </a:pPr>
            <a:r>
              <a:rPr sz="1400" b="1" dirty="0">
                <a:solidFill>
                  <a:srgbClr val="1B1B1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Ejecutar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B1B1B"/>
                </a:solidFill>
                <a:latin typeface="Arial"/>
              </a:rPr>
              <a:t>Importación</a:t>
            </a:r>
            <a:r>
              <a:rPr sz="1400" b="1" dirty="0">
                <a:solidFill>
                  <a:srgbClr val="1B1B1B"/>
                </a:solidFill>
                <a:latin typeface="Arial"/>
              </a:rPr>
              <a:t>: </a:t>
            </a:r>
            <a:r>
              <a:rPr sz="1400" dirty="0">
                <a:solidFill>
                  <a:srgbClr val="555555"/>
                </a:solidFill>
                <a:latin typeface="Arial"/>
              </a:rPr>
              <a:t>Haga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clic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en</a:t>
            </a:r>
            <a:r>
              <a:rPr sz="1400" dirty="0">
                <a:solidFill>
                  <a:srgbClr val="555555"/>
                </a:solidFill>
                <a:latin typeface="Arial"/>
              </a:rPr>
              <a:t> el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botón</a:t>
            </a:r>
            <a:r>
              <a:rPr sz="1400" dirty="0">
                <a:solidFill>
                  <a:srgbClr val="555555"/>
                </a:solidFill>
                <a:latin typeface="Arial"/>
              </a:rPr>
              <a:t> '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Importar</a:t>
            </a:r>
            <a:r>
              <a:rPr sz="1400" dirty="0">
                <a:solidFill>
                  <a:srgbClr val="555555"/>
                </a:solidFill>
                <a:latin typeface="Arial"/>
              </a:rPr>
              <a:t>' para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iniciar</a:t>
            </a:r>
            <a:r>
              <a:rPr sz="1400" dirty="0">
                <a:solidFill>
                  <a:srgbClr val="555555"/>
                </a:solidFill>
                <a:latin typeface="Arial"/>
              </a:rPr>
              <a:t> el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procesamiento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automático</a:t>
            </a:r>
            <a:r>
              <a:rPr sz="1400" dirty="0">
                <a:solidFill>
                  <a:srgbClr val="555555"/>
                </a:solidFill>
                <a:latin typeface="Arial"/>
              </a:rPr>
              <a:t> de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los</a:t>
            </a:r>
            <a:r>
              <a:rPr sz="1400" dirty="0">
                <a:solidFill>
                  <a:srgbClr val="555555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Arial"/>
              </a:rPr>
              <a:t>datos</a:t>
            </a:r>
            <a:r>
              <a:rPr sz="1400" dirty="0">
                <a:solidFill>
                  <a:srgbClr val="555555"/>
                </a:solidFill>
                <a:latin typeface="Arial"/>
              </a:rPr>
              <a:t>.</a:t>
            </a:r>
          </a:p>
        </p:txBody>
      </p:sp>
      <p:pic>
        <p:nvPicPr>
          <p:cNvPr id="15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94834786-6C0F-1D88-49FA-F4CE7F045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62C8607-9BC7-2F98-1B7B-86FED45A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1" y="1385751"/>
            <a:ext cx="5046891" cy="27687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Elipse 28">
            <a:extLst>
              <a:ext uri="{FF2B5EF4-FFF2-40B4-BE49-F238E27FC236}">
                <a16:creationId xmlns:a16="http://schemas.microsoft.com/office/drawing/2014/main" id="{C4438E2D-1E18-AE1F-A920-2E005E5F0B22}"/>
              </a:ext>
            </a:extLst>
          </p:cNvPr>
          <p:cNvSpPr/>
          <p:nvPr/>
        </p:nvSpPr>
        <p:spPr>
          <a:xfrm>
            <a:off x="4152280" y="3764449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B4221636-487C-BB6B-1086-3E00458B30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393"/>
          <a:stretch>
            <a:fillRect/>
          </a:stretch>
        </p:blipFill>
        <p:spPr>
          <a:xfrm>
            <a:off x="5812971" y="3895925"/>
            <a:ext cx="4181608" cy="22432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Elipse 32">
            <a:extLst>
              <a:ext uri="{FF2B5EF4-FFF2-40B4-BE49-F238E27FC236}">
                <a16:creationId xmlns:a16="http://schemas.microsoft.com/office/drawing/2014/main" id="{4198C692-2E6D-6A9F-2E1A-BB935F49A4F1}"/>
              </a:ext>
            </a:extLst>
          </p:cNvPr>
          <p:cNvSpPr/>
          <p:nvPr/>
        </p:nvSpPr>
        <p:spPr>
          <a:xfrm>
            <a:off x="6548109" y="5040042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35" name="Seta: para a Esquerda e para Cima 34">
            <a:extLst>
              <a:ext uri="{FF2B5EF4-FFF2-40B4-BE49-F238E27FC236}">
                <a16:creationId xmlns:a16="http://schemas.microsoft.com/office/drawing/2014/main" id="{FD30C513-5D80-599B-9A17-60909EC879B9}"/>
              </a:ext>
            </a:extLst>
          </p:cNvPr>
          <p:cNvSpPr/>
          <p:nvPr/>
        </p:nvSpPr>
        <p:spPr>
          <a:xfrm flipH="1">
            <a:off x="4152280" y="4154505"/>
            <a:ext cx="1660691" cy="1891800"/>
          </a:xfrm>
          <a:prstGeom prst="leftUpArrow">
            <a:avLst>
              <a:gd name="adj1" fmla="val 25000"/>
              <a:gd name="adj2" fmla="val 25345"/>
              <a:gd name="adj3" fmla="val 25000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05B9F2F4-5D58-3031-09DA-E44F36B918A2}"/>
              </a:ext>
            </a:extLst>
          </p:cNvPr>
          <p:cNvSpPr/>
          <p:nvPr/>
        </p:nvSpPr>
        <p:spPr>
          <a:xfrm>
            <a:off x="7275248" y="5312397"/>
            <a:ext cx="292608" cy="2723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82F"/>
                </a:solidFill>
                <a:latin typeface="Arial"/>
              </a:defRPr>
            </a:pPr>
            <a:r>
              <a:t>08. VALIDACIÓN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1B"/>
                </a:solidFill>
                <a:latin typeface="Arial"/>
              </a:defRPr>
            </a:pPr>
            <a:r>
              <a:t>ÉXITO EN LA 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55555"/>
                </a:solidFill>
                <a:latin typeface="Arial"/>
              </a:defRPr>
            </a:pPr>
            <a:r>
              <a:t>NHCE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8175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  <a:latin typeface="Arial"/>
              </a:defRPr>
            </a:pPr>
            <a:r>
              <a:t>#BUILDING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>
                <a:solidFill>
                  <a:srgbClr val="555555"/>
                </a:solidFill>
                <a:latin typeface="Arial"/>
              </a:defRPr>
            </a:pPr>
            <a:r>
              <a:t>El sistema presentará en pantalla un cuadro de diálogo con el resumen de la importación realizada: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Confirmación de Procesos: </a:t>
            </a:r>
            <a:r>
              <a:rPr sz="1400">
                <a:solidFill>
                  <a:srgbClr val="555555"/>
                </a:solidFill>
                <a:latin typeface="Arial"/>
              </a:rPr>
              <a:t>Verifique que el total de ítems procesados coincida con sus registros.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Reporte de Errores: </a:t>
            </a:r>
            <a:r>
              <a:rPr sz="1400">
                <a:solidFill>
                  <a:srgbClr val="555555"/>
                </a:solidFill>
                <a:latin typeface="Arial"/>
              </a:rPr>
              <a:t>Asegúrese de que el contador de líneas con error sea '0'.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Arial"/>
              </a:rPr>
              <a:t>• Consolidación final: </a:t>
            </a:r>
            <a:r>
              <a:rPr sz="1400">
                <a:solidFill>
                  <a:srgbClr val="555555"/>
                </a:solidFill>
                <a:latin typeface="Arial"/>
              </a:rPr>
              <a:t>Haga clic en 'OK' para finalizar y visualizar todos los datos cargados en el portal.</a:t>
            </a:r>
          </a:p>
        </p:txBody>
      </p:sp>
      <p:pic>
        <p:nvPicPr>
          <p:cNvPr id="12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6F4B9B1A-54AC-7089-D63B-DF76B0329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74AD37E-B7A9-7FDD-69D7-D1B4CEAF7F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1" t="2477" r="14913" b="7672"/>
          <a:stretch>
            <a:fillRect/>
          </a:stretch>
        </p:blipFill>
        <p:spPr>
          <a:xfrm>
            <a:off x="6494811" y="1685925"/>
            <a:ext cx="5486400" cy="32774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DC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FDC82F"/>
                </a:solidFill>
                <a:latin typeface="Arial"/>
              </a:defRPr>
            </a:pPr>
            <a:r>
              <a:t>SOPORTE Y COORDINACIÓN</a:t>
            </a:r>
          </a:p>
          <a:p>
            <a:pPr>
              <a:spcAft>
                <a:spcPts val="24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En caso de dudas, póngase en contacto con el equipo:</a:t>
            </a:r>
          </a:p>
          <a:p>
            <a:pPr>
              <a:spcAft>
                <a:spcPts val="4000"/>
              </a:spcAft>
              <a:defRPr sz="2800" b="1">
                <a:solidFill>
                  <a:srgbClr val="FDC82F"/>
                </a:solidFill>
                <a:latin typeface="Arial"/>
              </a:defRPr>
            </a:pPr>
            <a:r>
              <a:t>dealerdevelopmentnhce@newholland.com</a:t>
            </a:r>
          </a:p>
          <a:p>
            <a:pPr>
              <a:defRPr sz="2000" i="1">
                <a:solidFill>
                  <a:srgbClr val="B4B4B4"/>
                </a:solidFill>
                <a:latin typeface="Arial"/>
              </a:defRPr>
            </a:pPr>
            <a:r>
              <a:t>¡Muchas gracias!</a:t>
            </a:r>
          </a:p>
        </p:txBody>
      </p:sp>
      <p:pic>
        <p:nvPicPr>
          <p:cNvPr id="5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4DA950BF-D0E1-7814-7B95-3458D88966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8"/>
          <a:stretch>
            <a:fillRect/>
          </a:stretch>
        </p:blipFill>
        <p:spPr>
          <a:xfrm>
            <a:off x="10081795" y="129139"/>
            <a:ext cx="1918614" cy="665518"/>
          </a:xfrm>
          <a:prstGeom prst="rect">
            <a:avLst/>
          </a:prstGeom>
          <a:effectLst>
            <a:outerShdw blurRad="50800" dist="63500" dir="2700000" sx="101000" sy="101000" algn="tl" rotWithShape="0">
              <a:prstClr val="black">
                <a:alpha val="5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544725A126D554195FB20BAA8092BF1" ma:contentTypeVersion="9" ma:contentTypeDescription="Crie um novo documento." ma:contentTypeScope="" ma:versionID="5d8f56383f0da6b5a50d025ce88a69a2">
  <xsd:schema xmlns:xsd="http://www.w3.org/2001/XMLSchema" xmlns:xs="http://www.w3.org/2001/XMLSchema" xmlns:p="http://schemas.microsoft.com/office/2006/metadata/properties" xmlns:ns2="65e2b599-37f0-484f-bc76-e0b5a2f3a6ee" xmlns:ns3="47170a8f-e180-46fc-8b82-04b9b5fef3fd" targetNamespace="http://schemas.microsoft.com/office/2006/metadata/properties" ma:root="true" ma:fieldsID="70aa5764718396ec38bf0778c671806a" ns2:_="" ns3:_="">
    <xsd:import namespace="65e2b599-37f0-484f-bc76-e0b5a2f3a6ee"/>
    <xsd:import namespace="47170a8f-e180-46fc-8b82-04b9b5fef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2b599-37f0-484f-bc76-e0b5a2f3a6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170a8f-e180-46fc-8b82-04b9b5fef3f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dc3ce7-25b4-4730-ba87-4bd9541ca8ad}" ma:internalName="TaxCatchAll" ma:showField="CatchAllData" ma:web="47170a8f-e180-46fc-8b82-04b9b5fef3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7170a8f-e180-46fc-8b82-04b9b5fef3fd" xsi:nil="true"/>
    <lcf76f155ced4ddcb4097134ff3c332f xmlns="65e2b599-37f0-484f-bc76-e0b5a2f3a6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DA2A2C0-09C7-4C18-9C26-407F27F6A954}"/>
</file>

<file path=customXml/itemProps2.xml><?xml version="1.0" encoding="utf-8"?>
<ds:datastoreItem xmlns:ds="http://schemas.openxmlformats.org/officeDocument/2006/customXml" ds:itemID="{7DE18D70-808D-46EF-AEB8-6BB6BA78BCE9}"/>
</file>

<file path=customXml/itemProps3.xml><?xml version="1.0" encoding="utf-8"?>
<ds:datastoreItem xmlns:ds="http://schemas.openxmlformats.org/officeDocument/2006/customXml" ds:itemID="{13650FC8-D3D4-4DDC-B027-A138C48EA09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878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CELESTINO Geisiane (CNH)</cp:lastModifiedBy>
  <cp:revision>2</cp:revision>
  <dcterms:created xsi:type="dcterms:W3CDTF">2013-01-27T09:14:16Z</dcterms:created>
  <dcterms:modified xsi:type="dcterms:W3CDTF">2026-07-29T14:17:59Z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eb0fb4-c8a5-4461-a7eb-fddbf6a063ea_Enabled">
    <vt:lpwstr>true</vt:lpwstr>
  </property>
  <property fmtid="{D5CDD505-2E9C-101B-9397-08002B2CF9AE}" pid="3" name="MSIP_Label_7feb0fb4-c8a5-4461-a7eb-fddbf6a063ea_SetDate">
    <vt:lpwstr>2026-07-29T14:16:22Z</vt:lpwstr>
  </property>
  <property fmtid="{D5CDD505-2E9C-101B-9397-08002B2CF9AE}" pid="4" name="MSIP_Label_7feb0fb4-c8a5-4461-a7eb-fddbf6a063ea_Method">
    <vt:lpwstr>Standard</vt:lpwstr>
  </property>
  <property fmtid="{D5CDD505-2E9C-101B-9397-08002B2CF9AE}" pid="5" name="MSIP_Label_7feb0fb4-c8a5-4461-a7eb-fddbf6a063ea_Name">
    <vt:lpwstr>General Business</vt:lpwstr>
  </property>
  <property fmtid="{D5CDD505-2E9C-101B-9397-08002B2CF9AE}" pid="6" name="MSIP_Label_7feb0fb4-c8a5-4461-a7eb-fddbf6a063ea_SiteId">
    <vt:lpwstr>79310fb0-d39b-486b-b77b-25f3e0c82a0e</vt:lpwstr>
  </property>
  <property fmtid="{D5CDD505-2E9C-101B-9397-08002B2CF9AE}" pid="7" name="MSIP_Label_7feb0fb4-c8a5-4461-a7eb-fddbf6a063ea_ActionId">
    <vt:lpwstr>521a8be2-3a6d-41e2-b9f0-4dfc40f2983a</vt:lpwstr>
  </property>
  <property fmtid="{D5CDD505-2E9C-101B-9397-08002B2CF9AE}" pid="8" name="MSIP_Label_7feb0fb4-c8a5-4461-a7eb-fddbf6a063ea_ContentBits">
    <vt:lpwstr>1</vt:lpwstr>
  </property>
  <property fmtid="{D5CDD505-2E9C-101B-9397-08002B2CF9AE}" pid="9" name="MSIP_Label_7feb0fb4-c8a5-4461-a7eb-fddbf6a063ea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General Business</vt:lpwstr>
  </property>
  <property fmtid="{D5CDD505-2E9C-101B-9397-08002B2CF9AE}" pid="12" name="ContentTypeId">
    <vt:lpwstr>0x0101003544725A126D554195FB20BAA8092BF1</vt:lpwstr>
  </property>
</Properties>
</file>